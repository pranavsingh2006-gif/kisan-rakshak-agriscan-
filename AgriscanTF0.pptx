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5"/>
    </p:embeddedFont>
    <p:embeddedFont>
      <p:font typeface="Times New Roman" charset="1" panose="02020603050405020304"/>
      <p:regular r:id="rId16"/>
    </p:embeddedFont>
    <p:embeddedFont>
      <p:font typeface="Arimo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sih logo lighter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Relationship Id="rId4" Target="../media/image2.jpe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Relationship Id="rId7" Target="../media/image22.jpeg" Type="http://schemas.openxmlformats.org/officeDocument/2006/relationships/image"/><Relationship Id="rId8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universe.roboflow.com/multicrop-disease/custom-%20workflow-object-detection-2nqxa/dataset/3" TargetMode="External" Type="http://schemas.openxmlformats.org/officeDocument/2006/relationships/hyperlink"/><Relationship Id="rId11" Target="../media/image24.png" Type="http://schemas.openxmlformats.org/officeDocument/2006/relationships/image"/><Relationship Id="rId12" Target="https://github.com/PranavSingh2006-gif/Kisan-Rakshak-agriscan-" TargetMode="External" Type="http://schemas.openxmlformats.org/officeDocument/2006/relationships/hyperlink"/><Relationship Id="rId2" Target="../media/image5.jpeg" Type="http://schemas.openxmlformats.org/officeDocument/2006/relationships/image"/><Relationship Id="rId3" Target="https://github.com/UnicomAI/UnicomBenchmark/tree/main/CDDMBench" TargetMode="External" Type="http://schemas.openxmlformats.org/officeDocument/2006/relationships/hyperlink"/><Relationship Id="rId4" Target="https://github.com/UnicomAI/UnicomBenchmark/tree/main/CDDMBench" TargetMode="External" Type="http://schemas.openxmlformats.org/officeDocument/2006/relationships/hyperlink"/><Relationship Id="rId5" Target="https://github.com/UnicomAI/UnicomBenchmark/tree/main/CDDMBench" TargetMode="External" Type="http://schemas.openxmlformats.org/officeDocument/2006/relationships/hyperlink"/><Relationship Id="rId6" Target="https://github.com/UnicomAI/UnicomBenchmark/tree/main/CDDMBench" TargetMode="External" Type="http://schemas.openxmlformats.org/officeDocument/2006/relationships/hyperlink"/><Relationship Id="rId7" Target="https://sage-dataset.github.io" TargetMode="External" Type="http://schemas.openxmlformats.org/officeDocument/2006/relationships/hyperlink"/><Relationship Id="rId8" Target="https://github.com/spMohanty/PlantVillage-Dataset" TargetMode="External" Type="http://schemas.openxmlformats.org/officeDocument/2006/relationships/hyperlink"/><Relationship Id="rId9" Target="https://github.com/UnicomAI/UnicomBenchmark/tree/main/CDDMBench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7019" y="1028700"/>
            <a:ext cx="8010949" cy="7843301"/>
          </a:xfrm>
          <a:custGeom>
            <a:avLst/>
            <a:gdLst/>
            <a:ahLst/>
            <a:cxnLst/>
            <a:rect r="r" b="b" t="t" l="l"/>
            <a:pathLst>
              <a:path h="7843301" w="8010949">
                <a:moveTo>
                  <a:pt x="0" y="0"/>
                </a:moveTo>
                <a:lnTo>
                  <a:pt x="8010949" y="0"/>
                </a:lnTo>
                <a:lnTo>
                  <a:pt x="8010949" y="7843301"/>
                </a:lnTo>
                <a:lnTo>
                  <a:pt x="0" y="784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-1068" r="0" b="-10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4824" y="58645"/>
            <a:ext cx="19109353" cy="525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49"/>
              </a:lnSpc>
            </a:pPr>
          </a:p>
          <a:p>
            <a:pPr algn="just">
              <a:lnSpc>
                <a:spcPts val="6061"/>
              </a:lnSpc>
            </a:pPr>
            <a:r>
              <a:rPr lang="en-US" b="true" sz="3812" spc="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b="true" sz="3812" spc="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:- </a:t>
            </a:r>
            <a:r>
              <a:rPr lang="en-US" b="true" sz="3812" spc="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Early Crop Diseases Detection and Pest</a:t>
            </a:r>
            <a:r>
              <a:rPr lang="en-US" b="true" sz="3812" spc="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812" spc="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Infestations</a:t>
            </a:r>
            <a:r>
              <a:rPr lang="en-US" b="true" sz="3812" spc="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</a:p>
          <a:p>
            <a:pPr algn="just">
              <a:lnSpc>
                <a:spcPts val="9149"/>
              </a:lnSpc>
            </a:pPr>
            <a:r>
              <a:rPr lang="en-US" sz="38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sz="38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:- </a:t>
            </a: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Agriculture &amp; Rural Development</a:t>
            </a:r>
          </a:p>
          <a:p>
            <a:pPr algn="just">
              <a:lnSpc>
                <a:spcPts val="9149"/>
              </a:lnSpc>
            </a:pPr>
            <a:r>
              <a:rPr lang="en-US" sz="38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Solution :- </a:t>
            </a: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Kisan Rakshak </a:t>
            </a:r>
          </a:p>
          <a:p>
            <a:pPr algn="just">
              <a:lnSpc>
                <a:spcPts val="9149"/>
              </a:lnSpc>
            </a:pP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sz="38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Discription :-</a:t>
            </a: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Website to scan Crops and analyse diesease and pest infestations to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91837" y="4084936"/>
            <a:ext cx="19109353" cy="199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49"/>
              </a:lnSpc>
            </a:pPr>
          </a:p>
          <a:p>
            <a:pPr algn="just">
              <a:lnSpc>
                <a:spcPts val="6061"/>
              </a:lnSpc>
            </a:pPr>
            <a:r>
              <a:rPr lang="en-US" b="true" sz="3812" spc="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b="true" sz="3812" spc="7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suggest Organic and inorganic treatment methods 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4824" y="4892444"/>
            <a:ext cx="19109353" cy="449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49"/>
              </a:lnSpc>
            </a:pPr>
          </a:p>
          <a:p>
            <a:pPr algn="just">
              <a:lnSpc>
                <a:spcPts val="9149"/>
              </a:lnSpc>
            </a:pP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sz="38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Speciality :-</a:t>
            </a: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Works like Personal Doctor of crops &amp; Progressive tracking of Crop</a:t>
            </a:r>
          </a:p>
          <a:p>
            <a:pPr algn="just">
              <a:lnSpc>
                <a:spcPts val="9149"/>
              </a:lnSpc>
            </a:pPr>
          </a:p>
          <a:p>
            <a:pPr algn="just">
              <a:lnSpc>
                <a:spcPts val="9149"/>
              </a:lnSpc>
            </a:pP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</a:t>
            </a:r>
            <a:r>
              <a:rPr lang="en-US" sz="38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:-</a:t>
            </a:r>
            <a:r>
              <a:rPr lang="en-US" sz="3812" b="tru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Tech Freak 0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3062" y="1028700"/>
            <a:ext cx="8660938" cy="8660938"/>
          </a:xfrm>
          <a:custGeom>
            <a:avLst/>
            <a:gdLst/>
            <a:ahLst/>
            <a:cxnLst/>
            <a:rect r="r" b="b" t="t" l="l"/>
            <a:pathLst>
              <a:path h="8660938" w="8660938">
                <a:moveTo>
                  <a:pt x="0" y="0"/>
                </a:moveTo>
                <a:lnTo>
                  <a:pt x="8660938" y="0"/>
                </a:lnTo>
                <a:lnTo>
                  <a:pt x="8660938" y="8660938"/>
                </a:lnTo>
                <a:lnTo>
                  <a:pt x="0" y="8660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4271" y="78116"/>
            <a:ext cx="6875021" cy="1664948"/>
            <a:chOff x="0" y="0"/>
            <a:chExt cx="9166695" cy="2219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6695" cy="2219930"/>
            </a:xfrm>
            <a:custGeom>
              <a:avLst/>
              <a:gdLst/>
              <a:ahLst/>
              <a:cxnLst/>
              <a:rect r="r" b="b" t="t" l="l"/>
              <a:pathLst>
                <a:path h="2219930" w="9166695">
                  <a:moveTo>
                    <a:pt x="0" y="0"/>
                  </a:moveTo>
                  <a:lnTo>
                    <a:pt x="9166695" y="0"/>
                  </a:lnTo>
                  <a:lnTo>
                    <a:pt x="9166695" y="2219930"/>
                  </a:lnTo>
                  <a:lnTo>
                    <a:pt x="0" y="2219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004" r="0" b="-2290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23850"/>
              <a:ext cx="9166695" cy="189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5400" spc="167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KISAN RAKSHAK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3564" y="245328"/>
            <a:ext cx="2275761" cy="1037426"/>
            <a:chOff x="0" y="0"/>
            <a:chExt cx="3034348" cy="1383235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034302" cy="1383247"/>
            </a:xfrm>
            <a:custGeom>
              <a:avLst/>
              <a:gdLst/>
              <a:ahLst/>
              <a:cxnLst/>
              <a:rect r="r" b="b" t="t" l="l"/>
              <a:pathLst>
                <a:path h="1383247" w="3034302">
                  <a:moveTo>
                    <a:pt x="0" y="691623"/>
                  </a:moveTo>
                  <a:cubicBezTo>
                    <a:pt x="0" y="309685"/>
                    <a:pt x="679301" y="0"/>
                    <a:pt x="1517151" y="0"/>
                  </a:cubicBezTo>
                  <a:cubicBezTo>
                    <a:pt x="2355001" y="0"/>
                    <a:pt x="3034302" y="309685"/>
                    <a:pt x="3034302" y="691623"/>
                  </a:cubicBezTo>
                  <a:cubicBezTo>
                    <a:pt x="3034302" y="1073560"/>
                    <a:pt x="2355001" y="1383247"/>
                    <a:pt x="1517151" y="1383247"/>
                  </a:cubicBezTo>
                  <a:cubicBezTo>
                    <a:pt x="679301" y="1383247"/>
                    <a:pt x="0" y="1073560"/>
                    <a:pt x="0" y="691623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034348" cy="140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Freak 0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42794" y="1355231"/>
            <a:ext cx="11499840" cy="0"/>
          </a:xfrm>
          <a:prstGeom prst="line">
            <a:avLst/>
          </a:prstGeom>
          <a:ln cap="rnd" w="28575">
            <a:solidFill>
              <a:srgbClr val="1F497D">
                <a:alpha val="74902"/>
              </a:srgbClr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42794" y="10066362"/>
            <a:ext cx="11437927" cy="164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642634" y="1355231"/>
            <a:ext cx="0" cy="8711086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28506" y="1355231"/>
            <a:ext cx="14288" cy="8711130"/>
          </a:xfrm>
          <a:prstGeom prst="line">
            <a:avLst/>
          </a:prstGeom>
          <a:ln cap="rnd" w="28575">
            <a:solidFill>
              <a:srgbClr val="1F497D">
                <a:alpha val="74902"/>
              </a:srgbClr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760114" y="174449"/>
            <a:ext cx="803419" cy="1085702"/>
          </a:xfrm>
          <a:custGeom>
            <a:avLst/>
            <a:gdLst/>
            <a:ahLst/>
            <a:cxnLst/>
            <a:rect r="r" b="b" t="t" l="l"/>
            <a:pathLst>
              <a:path h="1085702" w="803419">
                <a:moveTo>
                  <a:pt x="0" y="0"/>
                </a:moveTo>
                <a:lnTo>
                  <a:pt x="803420" y="0"/>
                </a:lnTo>
                <a:lnTo>
                  <a:pt x="803420" y="1085702"/>
                </a:lnTo>
                <a:lnTo>
                  <a:pt x="0" y="1085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5428" y="1345706"/>
            <a:ext cx="11335293" cy="90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3"/>
              </a:lnSpc>
            </a:pPr>
            <a:r>
              <a:rPr lang="en-US" sz="1027" spc="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433"/>
              </a:lnSpc>
            </a:pP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27" spc="7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that helps farmers and field workers to detect crop diseases and pest infestations early using AI, crop images, weather data, location and expert knowledge.</a:t>
            </a:r>
          </a:p>
          <a:p>
            <a:pPr algn="l">
              <a:lnSpc>
                <a:spcPts val="1473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Farmer and Crop Profiling:</a:t>
            </a:r>
            <a:r>
              <a:rPr lang="en-US" sz="2027" spc="73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Registers farmer details, crop type, geographic location, soil condition and growth stage to contextualize AI image scans and store in a secure database.</a:t>
            </a:r>
          </a:p>
          <a:p>
            <a:pPr algn="l">
              <a:lnSpc>
                <a:spcPts val="153"/>
              </a:lnSpc>
            </a:pP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Health Report: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instant disease identification and colour codes alerts .</a:t>
            </a:r>
          </a:p>
          <a:p>
            <a:pPr algn="l">
              <a:lnSpc>
                <a:spcPts val="792"/>
              </a:lnSpc>
            </a:pPr>
          </a:p>
          <a:p>
            <a:pPr algn="l">
              <a:lnSpc>
                <a:spcPts val="136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Risk Forecasting: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weather, crop stage, soil condition and local pest history to predict disease and pest risks before visible damage spreads.</a:t>
            </a: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Crop Scanner:</a:t>
            </a:r>
            <a:r>
              <a:rPr lang="en-US" sz="2027" spc="73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click a photo of their crop or pest → AI instantly identifies disease and suggests remedies.</a:t>
            </a: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Advisory: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Advice regarding specific crop type to keep crop healthy depending on local weather condition, soil health and pest problems.</a:t>
            </a: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Expert Validation Loop: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AI’s result not satisfies farmer,he/she can verify by an agricultural expert to get targeted control measures.</a:t>
            </a: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Monitoring &amp; Alerts: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crop heath after treatment and sends timely alerts for re-infection or other required follow ups.</a:t>
            </a: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Multilingual AI Chatbot: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24/7 assistance in simple local language for crop health queries, subsidies and government programs.</a:t>
            </a: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Geospatial Hotspot Mapping: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disease and pest hostspots on a map, helping farmers and agricultural officials take preventive action in high risk areas.</a:t>
            </a:r>
          </a:p>
          <a:p>
            <a:pPr algn="l">
              <a:lnSpc>
                <a:spcPts val="393"/>
              </a:lnSpc>
            </a:pP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Pest trap integration 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contagious disease is detected in one field,Website sends alert notification to protect their crops before its spreads.</a:t>
            </a:r>
          </a:p>
          <a:p>
            <a:pPr algn="l">
              <a:lnSpc>
                <a:spcPts val="792"/>
              </a:lnSpc>
            </a:pPr>
          </a:p>
          <a:p>
            <a:pPr algn="l" marL="437804" indent="-218902" lvl="1">
              <a:lnSpc>
                <a:spcPts val="2433"/>
              </a:lnSpc>
              <a:buFont typeface="Arial"/>
              <a:buChar char="•"/>
            </a:pPr>
            <a:r>
              <a:rPr lang="en-US" b="true" sz="2027" spc="73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Weather intelligence: </a:t>
            </a:r>
            <a:r>
              <a:rPr lang="en-US" sz="2027" spc="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local weather to predict upcoming rain and storms before they happen and notify the farmers.</a:t>
            </a:r>
          </a:p>
          <a:p>
            <a:pPr algn="l">
              <a:lnSpc>
                <a:spcPts val="2433"/>
              </a:lnSpc>
            </a:pPr>
          </a:p>
          <a:p>
            <a:pPr algn="l">
              <a:lnSpc>
                <a:spcPts val="2433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30845" y="78116"/>
            <a:ext cx="803419" cy="1085702"/>
          </a:xfrm>
          <a:custGeom>
            <a:avLst/>
            <a:gdLst/>
            <a:ahLst/>
            <a:cxnLst/>
            <a:rect r="r" b="b" t="t" l="l"/>
            <a:pathLst>
              <a:path h="1085702" w="803419">
                <a:moveTo>
                  <a:pt x="0" y="0"/>
                </a:moveTo>
                <a:lnTo>
                  <a:pt x="803419" y="0"/>
                </a:lnTo>
                <a:lnTo>
                  <a:pt x="803419" y="1085702"/>
                </a:lnTo>
                <a:lnTo>
                  <a:pt x="0" y="1085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488580" y="2011155"/>
            <a:ext cx="6868672" cy="6868672"/>
          </a:xfrm>
          <a:custGeom>
            <a:avLst/>
            <a:gdLst/>
            <a:ahLst/>
            <a:cxnLst/>
            <a:rect r="r" b="b" t="t" l="l"/>
            <a:pathLst>
              <a:path h="6868672" w="6868672">
                <a:moveTo>
                  <a:pt x="0" y="0"/>
                </a:moveTo>
                <a:lnTo>
                  <a:pt x="6868673" y="0"/>
                </a:lnTo>
                <a:lnTo>
                  <a:pt x="6868673" y="6868673"/>
                </a:lnTo>
                <a:lnTo>
                  <a:pt x="0" y="6868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04546" y="1355231"/>
            <a:ext cx="6507793" cy="8711086"/>
          </a:xfrm>
          <a:custGeom>
            <a:avLst/>
            <a:gdLst/>
            <a:ahLst/>
            <a:cxnLst/>
            <a:rect r="r" b="b" t="t" l="l"/>
            <a:pathLst>
              <a:path h="8711086" w="6507793">
                <a:moveTo>
                  <a:pt x="0" y="0"/>
                </a:moveTo>
                <a:lnTo>
                  <a:pt x="6507793" y="0"/>
                </a:lnTo>
                <a:lnTo>
                  <a:pt x="6507793" y="8711086"/>
                </a:lnTo>
                <a:lnTo>
                  <a:pt x="0" y="8711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7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5370" y="-8576"/>
            <a:ext cx="17635771" cy="1837059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04510" y="948049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7521097" y="2057083"/>
            <a:ext cx="0" cy="6746601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35370" y="2057083"/>
            <a:ext cx="0" cy="6746601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46081" y="2057083"/>
            <a:ext cx="7298828" cy="0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35370" y="8803684"/>
            <a:ext cx="7285727" cy="0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19127" y="357670"/>
            <a:ext cx="2335685" cy="1037426"/>
            <a:chOff x="0" y="0"/>
            <a:chExt cx="3114247" cy="1383235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3114201" cy="1383247"/>
            </a:xfrm>
            <a:custGeom>
              <a:avLst/>
              <a:gdLst/>
              <a:ahLst/>
              <a:cxnLst/>
              <a:rect r="r" b="b" t="t" l="l"/>
              <a:pathLst>
                <a:path h="1383247" w="3114201">
                  <a:moveTo>
                    <a:pt x="0" y="691623"/>
                  </a:moveTo>
                  <a:cubicBezTo>
                    <a:pt x="0" y="309685"/>
                    <a:pt x="697188" y="0"/>
                    <a:pt x="1557100" y="0"/>
                  </a:cubicBezTo>
                  <a:cubicBezTo>
                    <a:pt x="2417012" y="0"/>
                    <a:pt x="3114201" y="309685"/>
                    <a:pt x="3114201" y="691623"/>
                  </a:cubicBezTo>
                  <a:cubicBezTo>
                    <a:pt x="3114201" y="1073560"/>
                    <a:pt x="2417012" y="1383247"/>
                    <a:pt x="1557100" y="1383247"/>
                  </a:cubicBezTo>
                  <a:cubicBezTo>
                    <a:pt x="697188" y="1383247"/>
                    <a:pt x="0" y="1073560"/>
                    <a:pt x="0" y="691623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14247" cy="140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Freak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86657" y="2503836"/>
            <a:ext cx="1708545" cy="333653"/>
          </a:xfrm>
          <a:custGeom>
            <a:avLst/>
            <a:gdLst/>
            <a:ahLst/>
            <a:cxnLst/>
            <a:rect r="r" b="b" t="t" l="l"/>
            <a:pathLst>
              <a:path h="333653" w="1708545">
                <a:moveTo>
                  <a:pt x="0" y="0"/>
                </a:moveTo>
                <a:lnTo>
                  <a:pt x="1708544" y="0"/>
                </a:lnTo>
                <a:lnTo>
                  <a:pt x="1708544" y="333653"/>
                </a:lnTo>
                <a:lnTo>
                  <a:pt x="0" y="333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57" r="0" b="-1070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9127" y="2963084"/>
            <a:ext cx="1642720" cy="397234"/>
          </a:xfrm>
          <a:custGeom>
            <a:avLst/>
            <a:gdLst/>
            <a:ahLst/>
            <a:cxnLst/>
            <a:rect r="r" b="b" t="t" l="l"/>
            <a:pathLst>
              <a:path h="397234" w="1642720">
                <a:moveTo>
                  <a:pt x="0" y="0"/>
                </a:moveTo>
                <a:lnTo>
                  <a:pt x="1642720" y="0"/>
                </a:lnTo>
                <a:lnTo>
                  <a:pt x="1642720" y="397233"/>
                </a:lnTo>
                <a:lnTo>
                  <a:pt x="0" y="397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63" t="0" r="-6355" b="-275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386657" y="3574961"/>
            <a:ext cx="1675190" cy="341887"/>
          </a:xfrm>
          <a:custGeom>
            <a:avLst/>
            <a:gdLst/>
            <a:ahLst/>
            <a:cxnLst/>
            <a:rect r="r" b="b" t="t" l="l"/>
            <a:pathLst>
              <a:path h="341887" w="1675190">
                <a:moveTo>
                  <a:pt x="0" y="0"/>
                </a:moveTo>
                <a:lnTo>
                  <a:pt x="1675190" y="0"/>
                </a:lnTo>
                <a:lnTo>
                  <a:pt x="1675190" y="341887"/>
                </a:lnTo>
                <a:lnTo>
                  <a:pt x="0" y="341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69" t="-3446" r="-236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411231" y="4545341"/>
            <a:ext cx="1642720" cy="332487"/>
          </a:xfrm>
          <a:custGeom>
            <a:avLst/>
            <a:gdLst/>
            <a:ahLst/>
            <a:cxnLst/>
            <a:rect r="r" b="b" t="t" l="l"/>
            <a:pathLst>
              <a:path h="332487" w="1642720">
                <a:moveTo>
                  <a:pt x="0" y="0"/>
                </a:moveTo>
                <a:lnTo>
                  <a:pt x="1642719" y="0"/>
                </a:lnTo>
                <a:lnTo>
                  <a:pt x="1642719" y="332487"/>
                </a:lnTo>
                <a:lnTo>
                  <a:pt x="0" y="3324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17" t="-8664" r="0" b="-866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9127" y="5021144"/>
            <a:ext cx="1642720" cy="371710"/>
          </a:xfrm>
          <a:custGeom>
            <a:avLst/>
            <a:gdLst/>
            <a:ahLst/>
            <a:cxnLst/>
            <a:rect r="r" b="b" t="t" l="l"/>
            <a:pathLst>
              <a:path h="371710" w="1642720">
                <a:moveTo>
                  <a:pt x="0" y="0"/>
                </a:moveTo>
                <a:lnTo>
                  <a:pt x="1642720" y="0"/>
                </a:lnTo>
                <a:lnTo>
                  <a:pt x="1642720" y="371710"/>
                </a:lnTo>
                <a:lnTo>
                  <a:pt x="0" y="371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4" t="-1226" r="0" b="-122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86657" y="5606572"/>
            <a:ext cx="1675190" cy="307841"/>
          </a:xfrm>
          <a:custGeom>
            <a:avLst/>
            <a:gdLst/>
            <a:ahLst/>
            <a:cxnLst/>
            <a:rect r="r" b="b" t="t" l="l"/>
            <a:pathLst>
              <a:path h="307841" w="1675190">
                <a:moveTo>
                  <a:pt x="0" y="0"/>
                </a:moveTo>
                <a:lnTo>
                  <a:pt x="1675190" y="0"/>
                </a:lnTo>
                <a:lnTo>
                  <a:pt x="1675190" y="307841"/>
                </a:lnTo>
                <a:lnTo>
                  <a:pt x="0" y="3078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805" r="-9096" b="-780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03334" y="6114151"/>
            <a:ext cx="1691867" cy="332940"/>
          </a:xfrm>
          <a:custGeom>
            <a:avLst/>
            <a:gdLst/>
            <a:ahLst/>
            <a:cxnLst/>
            <a:rect r="r" b="b" t="t" l="l"/>
            <a:pathLst>
              <a:path h="332940" w="1691867">
                <a:moveTo>
                  <a:pt x="0" y="0"/>
                </a:moveTo>
                <a:lnTo>
                  <a:pt x="1691867" y="0"/>
                </a:lnTo>
                <a:lnTo>
                  <a:pt x="1691867" y="332940"/>
                </a:lnTo>
                <a:lnTo>
                  <a:pt x="0" y="3329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553" r="-985" b="-255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19948" y="6666166"/>
            <a:ext cx="1775254" cy="328391"/>
          </a:xfrm>
          <a:custGeom>
            <a:avLst/>
            <a:gdLst/>
            <a:ahLst/>
            <a:cxnLst/>
            <a:rect r="r" b="b" t="t" l="l"/>
            <a:pathLst>
              <a:path h="328391" w="1775254">
                <a:moveTo>
                  <a:pt x="0" y="0"/>
                </a:moveTo>
                <a:lnTo>
                  <a:pt x="1775253" y="0"/>
                </a:lnTo>
                <a:lnTo>
                  <a:pt x="1775253" y="328391"/>
                </a:lnTo>
                <a:lnTo>
                  <a:pt x="0" y="328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3762" r="0" b="-1376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36625" y="7213632"/>
            <a:ext cx="1775254" cy="349594"/>
          </a:xfrm>
          <a:custGeom>
            <a:avLst/>
            <a:gdLst/>
            <a:ahLst/>
            <a:cxnLst/>
            <a:rect r="r" b="b" t="t" l="l"/>
            <a:pathLst>
              <a:path h="349594" w="1775254">
                <a:moveTo>
                  <a:pt x="0" y="0"/>
                </a:moveTo>
                <a:lnTo>
                  <a:pt x="1775254" y="0"/>
                </a:lnTo>
                <a:lnTo>
                  <a:pt x="1775254" y="349594"/>
                </a:lnTo>
                <a:lnTo>
                  <a:pt x="0" y="3495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731" r="0" b="-773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86657" y="7706101"/>
            <a:ext cx="1675190" cy="472910"/>
          </a:xfrm>
          <a:custGeom>
            <a:avLst/>
            <a:gdLst/>
            <a:ahLst/>
            <a:cxnLst/>
            <a:rect r="r" b="b" t="t" l="l"/>
            <a:pathLst>
              <a:path h="472910" w="1675190">
                <a:moveTo>
                  <a:pt x="0" y="0"/>
                </a:moveTo>
                <a:lnTo>
                  <a:pt x="1675190" y="0"/>
                </a:lnTo>
                <a:lnTo>
                  <a:pt x="1675190" y="472910"/>
                </a:lnTo>
                <a:lnTo>
                  <a:pt x="0" y="472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9038" r="0" b="-903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86657" y="4045074"/>
            <a:ext cx="1667294" cy="331955"/>
          </a:xfrm>
          <a:custGeom>
            <a:avLst/>
            <a:gdLst/>
            <a:ahLst/>
            <a:cxnLst/>
            <a:rect r="r" b="b" t="t" l="l"/>
            <a:pathLst>
              <a:path h="331955" w="1667294">
                <a:moveTo>
                  <a:pt x="0" y="0"/>
                </a:moveTo>
                <a:lnTo>
                  <a:pt x="1667293" y="0"/>
                </a:lnTo>
                <a:lnTo>
                  <a:pt x="1667293" y="331956"/>
                </a:lnTo>
                <a:lnTo>
                  <a:pt x="0" y="331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562" r="0" b="-2562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21097" y="1971358"/>
            <a:ext cx="10766903" cy="7170926"/>
          </a:xfrm>
          <a:custGeom>
            <a:avLst/>
            <a:gdLst/>
            <a:ahLst/>
            <a:cxnLst/>
            <a:rect r="r" b="b" t="t" l="l"/>
            <a:pathLst>
              <a:path h="7170926" w="10766903">
                <a:moveTo>
                  <a:pt x="0" y="0"/>
                </a:moveTo>
                <a:lnTo>
                  <a:pt x="10766903" y="0"/>
                </a:lnTo>
                <a:lnTo>
                  <a:pt x="10766903" y="7170926"/>
                </a:lnTo>
                <a:lnTo>
                  <a:pt x="0" y="71709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30929" y="2062704"/>
            <a:ext cx="5413980" cy="643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3046" spc="2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for web app and React Native for mobile app</a:t>
            </a:r>
          </a:p>
          <a:p>
            <a:pPr algn="l">
              <a:lnSpc>
                <a:spcPts val="841"/>
              </a:lnSpc>
            </a:pPr>
          </a:p>
          <a:p>
            <a:pPr algn="l">
              <a:lnSpc>
                <a:spcPts val="954"/>
              </a:lnSpc>
            </a:pPr>
            <a:r>
              <a:rPr lang="en-US" sz="795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</a:p>
          <a:p>
            <a:pPr algn="l">
              <a:lnSpc>
                <a:spcPts val="1855"/>
              </a:lnSpc>
            </a:pPr>
            <a:r>
              <a:rPr lang="en-US" sz="1546" spc="1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graphical representation of Analytical data such disease trends, risk level and crop statistics.</a:t>
            </a:r>
          </a:p>
          <a:p>
            <a:pPr algn="l">
              <a:lnSpc>
                <a:spcPts val="954"/>
              </a:lnSpc>
            </a:pPr>
            <a:r>
              <a:rPr lang="en-US" sz="795" spc="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modular and scalable backend framework.</a:t>
            </a:r>
          </a:p>
          <a:p>
            <a:pPr algn="l">
              <a:lnSpc>
                <a:spcPts val="1743"/>
              </a:lnSpc>
            </a:pPr>
            <a:r>
              <a:rPr lang="en-US" sz="1452" spc="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</a:p>
          <a:p>
            <a:pPr algn="l">
              <a:lnSpc>
                <a:spcPts val="278"/>
              </a:lnSpc>
            </a:pP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relational database management.</a:t>
            </a:r>
          </a:p>
          <a:p>
            <a:pPr algn="l">
              <a:lnSpc>
                <a:spcPts val="841"/>
              </a:lnSpc>
            </a:pPr>
          </a:p>
          <a:p>
            <a:pPr algn="l">
              <a:lnSpc>
                <a:spcPts val="841"/>
              </a:lnSpc>
            </a:pPr>
            <a:r>
              <a:rPr lang="en-US" sz="701" spc="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</a:p>
          <a:p>
            <a:pPr algn="l">
              <a:lnSpc>
                <a:spcPts val="84"/>
              </a:lnSpc>
            </a:pPr>
            <a:r>
              <a:rPr lang="en-US" sz="100" spc="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storing reports, crop images and backups securely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user authentication and session management.</a:t>
            </a:r>
          </a:p>
          <a:p>
            <a:pPr algn="l">
              <a:lnSpc>
                <a:spcPts val="2193"/>
              </a:lnSpc>
            </a:pPr>
            <a:r>
              <a:rPr lang="en-US" sz="1828" spc="1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</a:t>
            </a:r>
            <a:r>
              <a:rPr lang="en-US" sz="1828" spc="1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chat &amp; updates and live expert advisory.</a:t>
            </a:r>
          </a:p>
          <a:p>
            <a:pPr algn="l">
              <a:lnSpc>
                <a:spcPts val="954"/>
              </a:lnSpc>
            </a:pPr>
          </a:p>
          <a:p>
            <a:pPr algn="l">
              <a:lnSpc>
                <a:spcPts val="1405"/>
              </a:lnSpc>
            </a:pPr>
            <a:r>
              <a:rPr lang="en-US" sz="1170" spc="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</a:p>
          <a:p>
            <a:pPr algn="l">
              <a:lnSpc>
                <a:spcPts val="1855"/>
              </a:lnSpc>
            </a:pPr>
            <a:r>
              <a:rPr lang="en-US" sz="1546" spc="1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SMS and app notification for farmers.</a:t>
            </a:r>
          </a:p>
          <a:p>
            <a:pPr algn="l">
              <a:lnSpc>
                <a:spcPts val="2474"/>
              </a:lnSpc>
            </a:pPr>
            <a:r>
              <a:rPr lang="en-US" sz="2061" spc="1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diagnosis &amp;</a:t>
            </a: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personalized advisory.</a:t>
            </a:r>
          </a:p>
          <a:p>
            <a:pPr algn="l">
              <a:lnSpc>
                <a:spcPts val="2306"/>
              </a:lnSpc>
            </a:pPr>
            <a:r>
              <a:rPr lang="en-US" sz="1922" spc="1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weather forecast (IMD)</a:t>
            </a:r>
          </a:p>
          <a:p>
            <a:pPr algn="l">
              <a:lnSpc>
                <a:spcPts val="616"/>
              </a:lnSpc>
            </a:pPr>
            <a:r>
              <a:rPr lang="en-US" sz="513" spc="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1245"/>
              </a:lnSpc>
            </a:pPr>
          </a:p>
          <a:p>
            <a:pPr algn="l">
              <a:lnSpc>
                <a:spcPts val="1968"/>
              </a:lnSpc>
            </a:pPr>
            <a:r>
              <a:rPr lang="en-US" sz="1640" spc="1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</a:t>
            </a:r>
          </a:p>
          <a:p>
            <a:pPr algn="l">
              <a:lnSpc>
                <a:spcPts val="1968"/>
              </a:lnSpc>
            </a:pPr>
          </a:p>
          <a:p>
            <a:pPr algn="l">
              <a:lnSpc>
                <a:spcPts val="196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4321" y="92048"/>
            <a:ext cx="16459200" cy="1873304"/>
            <a:chOff x="0" y="0"/>
            <a:chExt cx="21945600" cy="2497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497739"/>
            </a:xfrm>
            <a:custGeom>
              <a:avLst/>
              <a:gdLst/>
              <a:ahLst/>
              <a:cxnLst/>
              <a:rect r="r" b="b" t="t" l="l"/>
              <a:pathLst>
                <a:path h="249773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97739"/>
                  </a:lnTo>
                  <a:lnTo>
                    <a:pt x="0" y="24977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437" r="0" b="-1169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526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9152" y="509987"/>
            <a:ext cx="2301131" cy="1037426"/>
            <a:chOff x="0" y="0"/>
            <a:chExt cx="3068174" cy="1383235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068128" cy="1383247"/>
            </a:xfrm>
            <a:custGeom>
              <a:avLst/>
              <a:gdLst/>
              <a:ahLst/>
              <a:cxnLst/>
              <a:rect r="r" b="b" t="t" l="l"/>
              <a:pathLst>
                <a:path h="1383247" w="3068128">
                  <a:moveTo>
                    <a:pt x="0" y="691623"/>
                  </a:moveTo>
                  <a:cubicBezTo>
                    <a:pt x="0" y="309685"/>
                    <a:pt x="686874" y="0"/>
                    <a:pt x="1534064" y="0"/>
                  </a:cubicBezTo>
                  <a:cubicBezTo>
                    <a:pt x="2381254" y="0"/>
                    <a:pt x="3068128" y="309685"/>
                    <a:pt x="3068128" y="691623"/>
                  </a:cubicBezTo>
                  <a:cubicBezTo>
                    <a:pt x="3068128" y="1073560"/>
                    <a:pt x="2381254" y="1383247"/>
                    <a:pt x="1534064" y="1383247"/>
                  </a:cubicBezTo>
                  <a:cubicBezTo>
                    <a:pt x="686874" y="1383247"/>
                    <a:pt x="0" y="1073560"/>
                    <a:pt x="0" y="691623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068174" cy="140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Freak 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20510" y="8293724"/>
            <a:ext cx="4483766" cy="1235360"/>
          </a:xfrm>
          <a:custGeom>
            <a:avLst/>
            <a:gdLst/>
            <a:ahLst/>
            <a:cxnLst/>
            <a:rect r="r" b="b" t="t" l="l"/>
            <a:pathLst>
              <a:path h="1235360" w="4483766">
                <a:moveTo>
                  <a:pt x="0" y="0"/>
                </a:moveTo>
                <a:lnTo>
                  <a:pt x="4483766" y="0"/>
                </a:lnTo>
                <a:lnTo>
                  <a:pt x="4483766" y="1235361"/>
                </a:lnTo>
                <a:lnTo>
                  <a:pt x="0" y="1235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14" t="0" r="-1741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60739" y="7227015"/>
            <a:ext cx="4483766" cy="1235360"/>
          </a:xfrm>
          <a:custGeom>
            <a:avLst/>
            <a:gdLst/>
            <a:ahLst/>
            <a:cxnLst/>
            <a:rect r="r" b="b" t="t" l="l"/>
            <a:pathLst>
              <a:path h="1235360" w="4483766">
                <a:moveTo>
                  <a:pt x="0" y="0"/>
                </a:moveTo>
                <a:lnTo>
                  <a:pt x="4483766" y="0"/>
                </a:lnTo>
                <a:lnTo>
                  <a:pt x="4483766" y="1235360"/>
                </a:lnTo>
                <a:lnTo>
                  <a:pt x="0" y="1235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14" t="0" r="-1741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7432" y="2179020"/>
            <a:ext cx="9073241" cy="689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3048" spc="207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of the idea</a:t>
            </a:r>
          </a:p>
          <a:p>
            <a:pPr algn="l" marL="530446" indent="-265223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ebsite</a:t>
            </a:r>
            <a:r>
              <a:rPr lang="en-US" b="true" sz="2456" spc="1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multilingual voice/text chatbot.</a:t>
            </a:r>
          </a:p>
          <a:p>
            <a:pPr algn="l" marL="530446" indent="-265223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AI diagnosis backed by human expert validation </a:t>
            </a:r>
            <a:r>
              <a:rPr lang="en-US" b="true" sz="2456" spc="1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</a:t>
            </a: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farmer database</a:t>
            </a:r>
          </a:p>
          <a:p>
            <a:pPr algn="l" marL="530446" indent="-265223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weather, soil and crop conditions with scalable cloud backend.</a:t>
            </a:r>
          </a:p>
          <a:p>
            <a:pPr algn="l">
              <a:lnSpc>
                <a:spcPts val="2948"/>
              </a:lnSpc>
            </a:pPr>
          </a:p>
          <a:p>
            <a:pPr algn="l">
              <a:lnSpc>
                <a:spcPts val="3530"/>
              </a:lnSpc>
            </a:pPr>
            <a:r>
              <a:rPr lang="en-US" sz="2942" spc="20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challenges and risks</a:t>
            </a:r>
          </a:p>
          <a:p>
            <a:pPr algn="l" marL="530449" indent="-265225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rural connectivity &amp; data gaps.</a:t>
            </a:r>
          </a:p>
          <a:p>
            <a:pPr algn="l" marL="530449" indent="-265225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digital literacy &amp; farmer trust barrier.</a:t>
            </a:r>
          </a:p>
          <a:p>
            <a:pPr algn="l" marL="530449" indent="-265225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trust in AI driven device.</a:t>
            </a:r>
          </a:p>
          <a:p>
            <a:pPr algn="l">
              <a:lnSpc>
                <a:spcPts val="2948"/>
              </a:lnSpc>
            </a:pPr>
          </a:p>
          <a:p>
            <a:pPr algn="l">
              <a:lnSpc>
                <a:spcPts val="3658"/>
              </a:lnSpc>
            </a:pPr>
            <a:r>
              <a:rPr lang="en-US" sz="3048" spc="207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Strategies to overcome challenges</a:t>
            </a:r>
          </a:p>
          <a:p>
            <a:pPr algn="l" marL="530451" indent="-265225" lvl="1">
              <a:lnSpc>
                <a:spcPts val="2948"/>
              </a:lnSpc>
              <a:buFont typeface="Arial"/>
              <a:buChar char="•"/>
            </a:pPr>
            <a:r>
              <a:rPr lang="en-US" b="true" sz="2456" spc="16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ICAR-</a:t>
            </a: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validated knowledge base &amp; partner with local champions to build trust.</a:t>
            </a:r>
          </a:p>
          <a:p>
            <a:pPr algn="l" marL="530451" indent="-265225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SMS &amp; whatsapp alerts (basic fallback).</a:t>
            </a:r>
          </a:p>
          <a:p>
            <a:pPr algn="l" marL="530451" indent="-265225" lvl="1">
              <a:lnSpc>
                <a:spcPts val="2948"/>
              </a:lnSpc>
              <a:buFont typeface="Arial"/>
              <a:buChar char="•"/>
            </a:pPr>
            <a:r>
              <a:rPr lang="en-US" sz="2456" spc="1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and visual multimodal UI &amp; FAQs in their regional language.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244965" y="8154083"/>
            <a:ext cx="4483766" cy="1235360"/>
          </a:xfrm>
          <a:custGeom>
            <a:avLst/>
            <a:gdLst/>
            <a:ahLst/>
            <a:cxnLst/>
            <a:rect r="r" b="b" t="t" l="l"/>
            <a:pathLst>
              <a:path h="1235360" w="4483766">
                <a:moveTo>
                  <a:pt x="0" y="0"/>
                </a:moveTo>
                <a:lnTo>
                  <a:pt x="4483766" y="0"/>
                </a:lnTo>
                <a:lnTo>
                  <a:pt x="4483766" y="1235361"/>
                </a:lnTo>
                <a:lnTo>
                  <a:pt x="0" y="1235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14" t="0" r="-1741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9717" y="2660412"/>
            <a:ext cx="6868672" cy="6868672"/>
          </a:xfrm>
          <a:custGeom>
            <a:avLst/>
            <a:gdLst/>
            <a:ahLst/>
            <a:cxnLst/>
            <a:rect r="r" b="b" t="t" l="l"/>
            <a:pathLst>
              <a:path h="6868672" w="6868672">
                <a:moveTo>
                  <a:pt x="0" y="0"/>
                </a:moveTo>
                <a:lnTo>
                  <a:pt x="6868672" y="0"/>
                </a:lnTo>
                <a:lnTo>
                  <a:pt x="6868672" y="6868673"/>
                </a:lnTo>
                <a:lnTo>
                  <a:pt x="0" y="68686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71458" y="1810182"/>
            <a:ext cx="7141030" cy="8116354"/>
          </a:xfrm>
          <a:custGeom>
            <a:avLst/>
            <a:gdLst/>
            <a:ahLst/>
            <a:cxnLst/>
            <a:rect r="r" b="b" t="t" l="l"/>
            <a:pathLst>
              <a:path h="8116354" w="7141030">
                <a:moveTo>
                  <a:pt x="0" y="0"/>
                </a:moveTo>
                <a:lnTo>
                  <a:pt x="7141030" y="0"/>
                </a:lnTo>
                <a:lnTo>
                  <a:pt x="7141030" y="8116355"/>
                </a:lnTo>
                <a:lnTo>
                  <a:pt x="0" y="8116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8" t="-10695" r="0" b="-965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27694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0302" y="509987"/>
            <a:ext cx="2371720" cy="1037426"/>
            <a:chOff x="0" y="0"/>
            <a:chExt cx="3162293" cy="138323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3162246" cy="1383247"/>
            </a:xfrm>
            <a:custGeom>
              <a:avLst/>
              <a:gdLst/>
              <a:ahLst/>
              <a:cxnLst/>
              <a:rect r="r" b="b" t="t" l="l"/>
              <a:pathLst>
                <a:path h="1383247" w="3162246">
                  <a:moveTo>
                    <a:pt x="0" y="691623"/>
                  </a:moveTo>
                  <a:cubicBezTo>
                    <a:pt x="0" y="309685"/>
                    <a:pt x="707944" y="0"/>
                    <a:pt x="1581123" y="0"/>
                  </a:cubicBezTo>
                  <a:cubicBezTo>
                    <a:pt x="2454302" y="0"/>
                    <a:pt x="3162246" y="309685"/>
                    <a:pt x="3162246" y="691623"/>
                  </a:cubicBezTo>
                  <a:cubicBezTo>
                    <a:pt x="3162246" y="1073560"/>
                    <a:pt x="2454302" y="1383247"/>
                    <a:pt x="1581123" y="1383247"/>
                  </a:cubicBezTo>
                  <a:cubicBezTo>
                    <a:pt x="707944" y="1383247"/>
                    <a:pt x="0" y="1073560"/>
                    <a:pt x="0" y="691623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162293" cy="140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Freak 0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90525" y="2075544"/>
            <a:ext cx="1246763" cy="1220672"/>
          </a:xfrm>
          <a:custGeom>
            <a:avLst/>
            <a:gdLst/>
            <a:ahLst/>
            <a:cxnLst/>
            <a:rect r="r" b="b" t="t" l="l"/>
            <a:pathLst>
              <a:path h="1220672" w="1246763">
                <a:moveTo>
                  <a:pt x="0" y="0"/>
                </a:moveTo>
                <a:lnTo>
                  <a:pt x="1246764" y="0"/>
                </a:lnTo>
                <a:lnTo>
                  <a:pt x="1246764" y="1220672"/>
                </a:lnTo>
                <a:lnTo>
                  <a:pt x="0" y="1220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68" r="0" b="-106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90525" y="3414071"/>
            <a:ext cx="1246763" cy="1246763"/>
          </a:xfrm>
          <a:custGeom>
            <a:avLst/>
            <a:gdLst/>
            <a:ahLst/>
            <a:cxnLst/>
            <a:rect r="r" b="b" t="t" l="l"/>
            <a:pathLst>
              <a:path h="1246763" w="1246763">
                <a:moveTo>
                  <a:pt x="0" y="0"/>
                </a:moveTo>
                <a:lnTo>
                  <a:pt x="1246764" y="0"/>
                </a:lnTo>
                <a:lnTo>
                  <a:pt x="1246764" y="1246763"/>
                </a:lnTo>
                <a:lnTo>
                  <a:pt x="0" y="1246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26869" y="4908484"/>
            <a:ext cx="1005780" cy="1000011"/>
          </a:xfrm>
          <a:custGeom>
            <a:avLst/>
            <a:gdLst/>
            <a:ahLst/>
            <a:cxnLst/>
            <a:rect r="r" b="b" t="t" l="l"/>
            <a:pathLst>
              <a:path h="1000011" w="1005780">
                <a:moveTo>
                  <a:pt x="0" y="0"/>
                </a:moveTo>
                <a:lnTo>
                  <a:pt x="1005780" y="0"/>
                </a:lnTo>
                <a:lnTo>
                  <a:pt x="1005780" y="1000011"/>
                </a:lnTo>
                <a:lnTo>
                  <a:pt x="0" y="10000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6" t="0" r="-1186" b="-296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91910" y="5937754"/>
            <a:ext cx="1168981" cy="1168981"/>
          </a:xfrm>
          <a:custGeom>
            <a:avLst/>
            <a:gdLst/>
            <a:ahLst/>
            <a:cxnLst/>
            <a:rect r="r" b="b" t="t" l="l"/>
            <a:pathLst>
              <a:path h="1168981" w="1168981">
                <a:moveTo>
                  <a:pt x="0" y="0"/>
                </a:moveTo>
                <a:lnTo>
                  <a:pt x="1168981" y="0"/>
                </a:lnTo>
                <a:lnTo>
                  <a:pt x="1168981" y="1168981"/>
                </a:lnTo>
                <a:lnTo>
                  <a:pt x="0" y="11689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68047" y="7168437"/>
            <a:ext cx="1069241" cy="1069241"/>
          </a:xfrm>
          <a:custGeom>
            <a:avLst/>
            <a:gdLst/>
            <a:ahLst/>
            <a:cxnLst/>
            <a:rect r="r" b="b" t="t" l="l"/>
            <a:pathLst>
              <a:path h="1069241" w="1069241">
                <a:moveTo>
                  <a:pt x="0" y="0"/>
                </a:moveTo>
                <a:lnTo>
                  <a:pt x="1069242" y="0"/>
                </a:lnTo>
                <a:lnTo>
                  <a:pt x="1069242" y="1069241"/>
                </a:lnTo>
                <a:lnTo>
                  <a:pt x="0" y="1069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20152" y="8484101"/>
            <a:ext cx="912497" cy="912497"/>
          </a:xfrm>
          <a:custGeom>
            <a:avLst/>
            <a:gdLst/>
            <a:ahLst/>
            <a:cxnLst/>
            <a:rect r="r" b="b" t="t" l="l"/>
            <a:pathLst>
              <a:path h="912497" w="912497">
                <a:moveTo>
                  <a:pt x="0" y="0"/>
                </a:moveTo>
                <a:lnTo>
                  <a:pt x="912497" y="0"/>
                </a:lnTo>
                <a:lnTo>
                  <a:pt x="912497" y="912497"/>
                </a:lnTo>
                <a:lnTo>
                  <a:pt x="0" y="9124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933995" y="2399153"/>
            <a:ext cx="6868672" cy="6868672"/>
          </a:xfrm>
          <a:custGeom>
            <a:avLst/>
            <a:gdLst/>
            <a:ahLst/>
            <a:cxnLst/>
            <a:rect r="r" b="b" t="t" l="l"/>
            <a:pathLst>
              <a:path h="6868672" w="6868672">
                <a:moveTo>
                  <a:pt x="0" y="0"/>
                </a:moveTo>
                <a:lnTo>
                  <a:pt x="6868673" y="0"/>
                </a:lnTo>
                <a:lnTo>
                  <a:pt x="6868673" y="6868672"/>
                </a:lnTo>
                <a:lnTo>
                  <a:pt x="0" y="6868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4887" y="2056494"/>
            <a:ext cx="10188592" cy="793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490" spc="9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Farmers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Better crop quality, lower losses -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helps farmers protect crop health, improve quality and reduce damage and yield losses.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Early disease detection and easy guidance - 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crop disease at early stage, allow farmers to take timely actions and prevent major crop losses by taking expert guidance.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Empower farmers with knowledge -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gives local weather updates and guides farmers on choosing the right, safe pesticides and exact dosages while protecting them from harmful or low-quality chemicals.</a:t>
            </a: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  <a:r>
              <a:rPr lang="en-US" sz="3490" spc="9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Stakeholders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Agricultural experts/Organizations-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can share their knowledge, validate AI results and reach more farmers through the platform.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Researchers-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use agricultural data to study</a:t>
            </a: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disease patterns 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develop better farming solutions.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Rural economy &amp; agriculture businesses-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rural economy by reducing crop losses ,improve farmers’ income and creating opportunities for</a:t>
            </a:r>
            <a:r>
              <a:rPr lang="en-US" sz="2327" spc="60">
                <a:solidFill>
                  <a:srgbClr val="138E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327" spc="60">
                <a:solidFill>
                  <a:srgbClr val="138E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agricultural businesses to provide better products</a:t>
            </a: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services based on local crop needs.</a:t>
            </a:r>
          </a:p>
          <a:p>
            <a:pPr algn="l" marL="502442" indent="-251221" lvl="1">
              <a:lnSpc>
                <a:spcPts val="2792"/>
              </a:lnSpc>
              <a:buFont typeface="Arial"/>
              <a:buChar char="•"/>
            </a:pP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State-level Agricultural Planning- 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</a:t>
            </a:r>
            <a:r>
              <a:rPr lang="en-US" b="true" sz="2327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327" spc="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government understand crop conditions across the state and develop effective agriculture strategies.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60891" y="2475353"/>
            <a:ext cx="548675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Reduced Crop Loss &amp; Increased Yield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0891" y="3846953"/>
            <a:ext cx="47420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Faster Response &amp; Timely 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37289" y="5133975"/>
            <a:ext cx="54524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Higher Farmer Income &amp; Lower Costs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37289" y="6324600"/>
            <a:ext cx="42672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Sustainable &amp; Green Farming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77798" y="7331583"/>
            <a:ext cx="472511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Smarter Governance &amp; Outbreak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 Prevention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9347" y="8663173"/>
            <a:ext cx="471356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Inclusive &amp; Scalable Agricultural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25663A"/>
                </a:solidFill>
                <a:latin typeface="Arimo Bold"/>
                <a:ea typeface="Arimo Bold"/>
                <a:cs typeface="Arimo Bold"/>
                <a:sym typeface="Arimo Bold"/>
              </a:rPr>
              <a:t>Intelligence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5786" y="267099"/>
            <a:ext cx="2439396" cy="1037426"/>
            <a:chOff x="0" y="0"/>
            <a:chExt cx="3252528" cy="138323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3252479" cy="1383247"/>
            </a:xfrm>
            <a:custGeom>
              <a:avLst/>
              <a:gdLst/>
              <a:ahLst/>
              <a:cxnLst/>
              <a:rect r="r" b="b" t="t" l="l"/>
              <a:pathLst>
                <a:path h="1383247" w="3252479">
                  <a:moveTo>
                    <a:pt x="0" y="691623"/>
                  </a:moveTo>
                  <a:cubicBezTo>
                    <a:pt x="0" y="309685"/>
                    <a:pt x="728145" y="0"/>
                    <a:pt x="1626239" y="0"/>
                  </a:cubicBezTo>
                  <a:cubicBezTo>
                    <a:pt x="2524334" y="0"/>
                    <a:pt x="3252479" y="309685"/>
                    <a:pt x="3252479" y="691623"/>
                  </a:cubicBezTo>
                  <a:cubicBezTo>
                    <a:pt x="3252479" y="1073560"/>
                    <a:pt x="2524334" y="1383247"/>
                    <a:pt x="1626239" y="1383247"/>
                  </a:cubicBezTo>
                  <a:cubicBezTo>
                    <a:pt x="728145" y="1383247"/>
                    <a:pt x="0" y="1073560"/>
                    <a:pt x="0" y="691623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252528" cy="140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2566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Freak 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1424" y="1845699"/>
            <a:ext cx="8556086" cy="278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799" spc="3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true" sz="2799" spc="349" u="sng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3" tooltip="https://github.com/UnicomAI/UnicomBenchmark/tree/main/CDDMBench"/>
              </a:rPr>
              <a:t>Reasearch papers &amp; Best practices:</a:t>
            </a:r>
          </a:p>
          <a:p>
            <a:pPr algn="l">
              <a:lnSpc>
                <a:spcPts val="2620"/>
              </a:lnSpc>
            </a:pPr>
          </a:p>
          <a:p>
            <a:pPr algn="l" marL="516000" indent="-258000" lvl="1">
              <a:lnSpc>
                <a:spcPts val="3130"/>
              </a:lnSpc>
              <a:buFont typeface="Arial"/>
              <a:buChar char="•"/>
            </a:pPr>
            <a:r>
              <a:rPr lang="en-US" sz="2389" spc="298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github.com/UnicomAI/UnicomBenchmark/tree/main/CDDMBench"/>
              </a:rPr>
              <a:t>AI-based crop Disease Detection Research</a:t>
            </a:r>
          </a:p>
          <a:p>
            <a:pPr algn="l" marL="516000" indent="-258000" lvl="1">
              <a:lnSpc>
                <a:spcPts val="3130"/>
              </a:lnSpc>
              <a:buFont typeface="Arial"/>
              <a:buChar char="•"/>
            </a:pPr>
            <a:r>
              <a:rPr lang="en-US" sz="2389" spc="298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github.com/UnicomAI/UnicomBenchmark/tree/main/CDDMBench"/>
              </a:rPr>
              <a:t>Multimodal Data Integration in Agriculture</a:t>
            </a:r>
          </a:p>
          <a:p>
            <a:pPr algn="l" marL="516000" indent="-258000" lvl="1">
              <a:lnSpc>
                <a:spcPts val="3130"/>
              </a:lnSpc>
              <a:buFont typeface="Arial"/>
              <a:buChar char="•"/>
            </a:pPr>
            <a:r>
              <a:rPr lang="en-US" sz="2389" spc="298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github.com/UnicomAI/UnicomBenchmark/tree/main/CDDMBench"/>
              </a:rPr>
              <a:t>Real-time Plant Diagnostics studies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366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322374"/>
            <a:ext cx="12800614" cy="77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586" indent="-247793" lvl="1">
              <a:lnSpc>
                <a:spcPts val="3007"/>
              </a:lnSpc>
              <a:buFont typeface="Arial"/>
              <a:buChar char="•"/>
            </a:pPr>
            <a:r>
              <a:rPr lang="en-US" b="true" sz="2295" spc="312" u="sng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 tooltip="https://sage-dataset.github.io"/>
              </a:rPr>
              <a:t>SAGE Dataset(2026 , Iowa State University) </a:t>
            </a:r>
          </a:p>
          <a:p>
            <a:pPr algn="l">
              <a:lnSpc>
                <a:spcPts val="300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206966" y="3356511"/>
            <a:ext cx="4058611" cy="3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426" indent="-242213" lvl="1">
              <a:lnSpc>
                <a:spcPts val="2939"/>
              </a:lnSpc>
              <a:buFont typeface="Arial"/>
              <a:buChar char="•"/>
            </a:pPr>
            <a:r>
              <a:rPr lang="en-US" b="true" sz="2243" spc="305" u="sng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8" tooltip="https://github.com/spMohanty/PlantVillage-Dataset"/>
              </a:rPr>
              <a:t> PlantVillage 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7584" y="2893560"/>
            <a:ext cx="12953014" cy="38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943" indent="-249972" lvl="1">
              <a:lnSpc>
                <a:spcPts val="3033"/>
              </a:lnSpc>
              <a:buFont typeface="Arial"/>
              <a:buChar char="•"/>
            </a:pPr>
            <a:r>
              <a:rPr lang="en-US" b="true" sz="2315" spc="314" u="sng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9" tooltip="https://github.com/UnicomAI/UnicomBenchmark/tree/main/CDDMBench"/>
              </a:rPr>
              <a:t>Crop Disease Domain Multimodal (CDDM) Dataset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820465"/>
            <a:ext cx="12800614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586" indent="-247793" lvl="1">
              <a:lnSpc>
                <a:spcPts val="3007"/>
              </a:lnSpc>
              <a:buFont typeface="Arial"/>
              <a:buChar char="•"/>
            </a:pPr>
            <a:r>
              <a:rPr lang="en-US" b="true" sz="2295" spc="312" u="sng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0" tooltip="https://universe.roboflow.com/multicrop-disease/custom-%20workflow-object-detection-2nqxa/dataset/3"/>
              </a:rPr>
              <a:t>Multi-crop disease Dataset (Mendeley Data,2025)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55383" y="1628775"/>
            <a:ext cx="17842743" cy="14288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64872" y="5624671"/>
            <a:ext cx="17833254" cy="0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54427" y="9515136"/>
            <a:ext cx="8683083" cy="14288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48240" y="1643114"/>
            <a:ext cx="14288" cy="3997966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7998126" y="1595650"/>
            <a:ext cx="14288" cy="3997966"/>
          </a:xfrm>
          <a:prstGeom prst="line">
            <a:avLst/>
          </a:prstGeom>
          <a:ln cap="rnd" w="28575">
            <a:solidFill>
              <a:srgbClr val="1F497D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487431" y="1722803"/>
            <a:ext cx="4878791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2984" u="sng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Datasets &amp; Resources:</a:t>
            </a:r>
          </a:p>
          <a:p>
            <a:pPr algn="l">
              <a:lnSpc>
                <a:spcPts val="2792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0" y="5717331"/>
            <a:ext cx="18108432" cy="4752154"/>
          </a:xfrm>
          <a:custGeom>
            <a:avLst/>
            <a:gdLst/>
            <a:ahLst/>
            <a:cxnLst/>
            <a:rect r="r" b="b" t="t" l="l"/>
            <a:pathLst>
              <a:path h="4752154" w="18108432">
                <a:moveTo>
                  <a:pt x="0" y="0"/>
                </a:moveTo>
                <a:lnTo>
                  <a:pt x="18108432" y="0"/>
                </a:lnTo>
                <a:lnTo>
                  <a:pt x="18108432" y="4752154"/>
                </a:lnTo>
                <a:lnTo>
                  <a:pt x="0" y="47521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8111" r="0" b="-46939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28661" y="4625983"/>
            <a:ext cx="95784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3"/>
              </a:lnSpc>
              <a:spcBef>
                <a:spcPct val="0"/>
              </a:spcBef>
            </a:pPr>
            <a:r>
              <a:rPr lang="en-US" b="true" sz="2377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2" tooltip="https://github.com/PranavSingh2006-gif/Kisan-Rakshak-agriscan-"/>
              </a:rPr>
              <a:t>https://github.com/PranavSingh2006-gif/Kisan-Rakshak-agriscan-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6937" y="4616458"/>
            <a:ext cx="14117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  <a:spcBef>
                <a:spcPct val="0"/>
              </a:spcBef>
            </a:pPr>
            <a:r>
              <a:rPr lang="en-US" b="true" sz="266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Github</a:t>
            </a:r>
            <a:r>
              <a:rPr lang="en-US" b="true" sz="26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:-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DAHVowo6T2E</dc:identifier>
  <dcterms:modified xsi:type="dcterms:W3CDTF">2011-08-01T06:04:30Z</dcterms:modified>
  <cp:revision>1</cp:revision>
  <dc:title>Problem Statement ID : 26131 Problem Statement Title : Early Detection and Management of Crop Diseases and Pest Infestations Theme : Agriculture, FoodTech &amp; Rural Development PS Category : Software Team ID- Team Name : Tech Freak</dc:title>
</cp:coreProperties>
</file>